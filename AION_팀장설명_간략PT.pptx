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7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ko-KR" altLang="en-US" sz="1300" b="1" dirty="0">
                <a:solidFill>
                  <a:srgbClr val="93C5FD"/>
                </a:solidFill>
                <a:latin typeface="Malgun Gothic"/>
                <a:ea typeface="Malgun Gothic"/>
              </a:rPr>
              <a:t>팀장회의 브리핑 자료</a:t>
            </a:r>
            <a:endParaRPr sz="1300" b="1" dirty="0">
              <a:solidFill>
                <a:srgbClr val="93C5FD"/>
              </a:solidFill>
              <a:latin typeface="Malgun Gothic"/>
              <a:ea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400" b="1" dirty="0">
                <a:solidFill>
                  <a:srgbClr val="FFFFFF"/>
                </a:solidFill>
                <a:latin typeface="Malgun Gothic"/>
                <a:ea typeface="Malgun Gothic"/>
              </a:rPr>
              <a:t>AION </a:t>
            </a:r>
            <a:r>
              <a:rPr sz="5400" b="1" dirty="0" err="1">
                <a:solidFill>
                  <a:srgbClr val="FFFFFF"/>
                </a:solidFill>
                <a:latin typeface="Malgun Gothic"/>
                <a:ea typeface="Malgun Gothic"/>
              </a:rPr>
              <a:t>통합</a:t>
            </a:r>
            <a:r>
              <a:rPr sz="5400" b="1" dirty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sz="5400" b="1" dirty="0" err="1">
                <a:solidFill>
                  <a:srgbClr val="FFFFFF"/>
                </a:solidFill>
                <a:latin typeface="Malgun Gothic"/>
                <a:ea typeface="Malgun Gothic"/>
              </a:rPr>
              <a:t>성과관리</a:t>
            </a:r>
            <a:r>
              <a:rPr sz="5400" b="1" dirty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sz="5400" b="1" dirty="0" err="1">
                <a:solidFill>
                  <a:srgbClr val="FFFFFF"/>
                </a:solidFill>
                <a:latin typeface="Malgun Gothic"/>
                <a:ea typeface="Malgun Gothic"/>
              </a:rPr>
              <a:t>체계</a:t>
            </a:r>
            <a:endParaRPr sz="5400" b="1" dirty="0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BD5E1"/>
                </a:solidFill>
                <a:latin typeface="Malgun Gothic"/>
                <a:ea typeface="Malgun Gothic"/>
              </a:rPr>
              <a:t>팀장 대상 간략 설명
사업계획 · 예산 · 성과지표를 하나로 연결하는 새로운 사업관리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3C5FD"/>
                </a:solidFill>
                <a:latin typeface="Malgun Gothic"/>
                <a:ea typeface="Malgun Gothic"/>
              </a:rPr>
              <a:t>접속  https://suai.cloud</a:t>
            </a:r>
          </a:p>
        </p:txBody>
      </p:sp>
      <p:pic>
        <p:nvPicPr>
          <p:cNvPr id="1028" name="Picture 4" descr="preparing_logo-1 – 삼육대학교">
            <a:extLst>
              <a:ext uri="{FF2B5EF4-FFF2-40B4-BE49-F238E27FC236}">
                <a16:creationId xmlns:a16="http://schemas.microsoft.com/office/drawing/2014/main" id="{342CEDAD-0DB5-45AB-A8CD-D17A59275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55" y="142758"/>
            <a:ext cx="643936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AF9FAD-9265-4F7F-B691-B057A12B7A91}"/>
              </a:ext>
            </a:extLst>
          </p:cNvPr>
          <p:cNvSpPr txBox="1"/>
          <p:nvPr/>
        </p:nvSpPr>
        <p:spPr>
          <a:xfrm>
            <a:off x="731520" y="468630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ko-KR" altLang="en-US" sz="1600" b="1" dirty="0">
                <a:solidFill>
                  <a:srgbClr val="93C5FD"/>
                </a:solidFill>
                <a:latin typeface="Malgun Gothic"/>
                <a:ea typeface="Malgun Gothic"/>
              </a:rPr>
              <a:t>기획처 기획평가팀</a:t>
            </a:r>
            <a:endParaRPr sz="1600" b="1" dirty="0">
              <a:solidFill>
                <a:srgbClr val="93C5FD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4FD6"/>
                </a:solidFill>
                <a:latin typeface="Malgun Gothic"/>
                <a:ea typeface="Malgun Gothic"/>
              </a:rPr>
              <a:t>PART 1  ·  필요성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201168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AION 통합 성과관리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F2E"/>
                </a:solidFill>
                <a:latin typeface="Malgun Gothic"/>
                <a:ea typeface="Malgun Gothic"/>
              </a:rPr>
              <a:t>지금 대학은 이중고에 직면해 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외부에서 오는 구조적 위기와, 내부의 관행적 비효율이 동시에 커지고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5321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2680" y="1417320"/>
            <a:ext cx="55321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1600200"/>
            <a:ext cx="329184" cy="329184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0934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외부 환경의 구조적 위기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50292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·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학령인구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감소가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실질적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재정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타격으로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이어짐</a:t>
            </a:r>
            <a:endParaRPr sz="1300" b="1" dirty="0">
              <a:solidFill>
                <a:srgbClr val="3D4658"/>
              </a:solidFill>
              <a:latin typeface="Malgun Gothic"/>
              <a:ea typeface="Malgun Gothic"/>
            </a:endParaRPr>
          </a:p>
          <a:p>
            <a:pPr algn="l">
              <a:spcAft>
                <a:spcPts val="800"/>
              </a:spcAft>
            </a:pP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·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교육부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, 2027학년부터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지방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국립대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신입생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등록금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0원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추진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br>
              <a:rPr lang="en-US" altLang="ko-KR" sz="1300" b="0" dirty="0">
                <a:solidFill>
                  <a:srgbClr val="3D4658"/>
                </a:solidFill>
                <a:latin typeface="Malgun Gothic"/>
                <a:ea typeface="Malgun Gothic"/>
              </a:rPr>
            </a:br>
            <a:r>
              <a:rPr lang="en-US" altLang="ko-KR"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사립대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유치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경쟁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심화</a:t>
            </a:r>
            <a:endParaRPr sz="1300" b="1" dirty="0">
              <a:solidFill>
                <a:srgbClr val="3D4658"/>
              </a:solidFill>
              <a:latin typeface="Malgun Gothic"/>
              <a:ea typeface="Malgun Gothic"/>
            </a:endParaRPr>
          </a:p>
          <a:p>
            <a:pPr algn="l">
              <a:spcAft>
                <a:spcPts val="800"/>
              </a:spcAft>
            </a:pP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·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재정위기대학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관리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본격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시행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(2026.8.15)</a:t>
            </a:r>
            <a:br>
              <a:rPr lang="en-US" altLang="ko-KR" sz="1300" b="0" dirty="0">
                <a:solidFill>
                  <a:srgbClr val="3D4658"/>
                </a:solidFill>
                <a:latin typeface="Malgun Gothic"/>
                <a:ea typeface="Malgun Gothic"/>
              </a:rPr>
            </a:br>
            <a:r>
              <a:rPr lang="en-US" altLang="ko-KR"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구조조정·통폐합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을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전제로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한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국가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조치</a:t>
            </a:r>
            <a:endParaRPr sz="1300" b="0" dirty="0">
              <a:solidFill>
                <a:srgbClr val="3D4658"/>
              </a:solidFill>
              <a:latin typeface="Malgun Gothic"/>
              <a:ea typeface="Malgun Gothic"/>
            </a:endParaRPr>
          </a:p>
          <a:p>
            <a:pPr algn="l">
              <a:spcAft>
                <a:spcPts val="800"/>
              </a:spcAft>
            </a:pP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·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평가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패러다임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전환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: </a:t>
            </a:r>
            <a:br>
              <a:rPr lang="en-US" altLang="ko-KR" sz="1300" b="0" dirty="0">
                <a:solidFill>
                  <a:srgbClr val="3D4658"/>
                </a:solidFill>
                <a:latin typeface="Malgun Gothic"/>
                <a:ea typeface="Malgun Gothic"/>
              </a:rPr>
            </a:br>
            <a:r>
              <a:rPr lang="en-US" altLang="ko-KR"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예산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집행률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→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핵심지표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달성도·환류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(PDCA)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600200"/>
            <a:ext cx="329184" cy="329184"/>
          </a:xfrm>
          <a:prstGeom prst="ellipse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60934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내부 관리체계의 모순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0292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· “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전년도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진행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사업”이라는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이유로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반복되는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항례적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예산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배정</a:t>
            </a:r>
            <a:endParaRPr sz="1300" b="1" dirty="0">
              <a:solidFill>
                <a:srgbClr val="3D4658"/>
              </a:solidFill>
              <a:latin typeface="Malgun Gothic"/>
              <a:ea typeface="Malgun Gothic"/>
            </a:endParaRPr>
          </a:p>
          <a:p>
            <a:pPr algn="l">
              <a:spcAft>
                <a:spcPts val="800"/>
              </a:spcAft>
            </a:pP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·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사업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실적과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성과지표의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인과관계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단절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—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추적·검증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불가</a:t>
            </a:r>
            <a:endParaRPr sz="1300" b="0" dirty="0">
              <a:solidFill>
                <a:srgbClr val="3D4658"/>
              </a:solidFill>
              <a:latin typeface="Malgun Gothic"/>
              <a:ea typeface="Malgun Gothic"/>
            </a:endParaRPr>
          </a:p>
          <a:p>
            <a:pPr algn="l">
              <a:spcAft>
                <a:spcPts val="800"/>
              </a:spcAft>
            </a:pP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·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교비·국비·지자체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재원별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분절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관리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→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중복투자·투자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사각지대</a:t>
            </a:r>
            <a:endParaRPr sz="1300" b="1" dirty="0">
              <a:solidFill>
                <a:srgbClr val="3D4658"/>
              </a:solidFill>
              <a:latin typeface="Malgun Gothic"/>
              <a:ea typeface="Malgun Gothic"/>
            </a:endParaRPr>
          </a:p>
          <a:p>
            <a:pPr algn="l">
              <a:spcAft>
                <a:spcPts val="800"/>
              </a:spcAft>
            </a:pP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·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하나의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예산사업을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여러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세부사업으로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쪼개는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 err="1">
                <a:solidFill>
                  <a:srgbClr val="3D4658"/>
                </a:solidFill>
                <a:latin typeface="Malgun Gothic"/>
                <a:ea typeface="Malgun Gothic"/>
              </a:rPr>
              <a:t>중층구조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br>
              <a:rPr lang="en-US" altLang="ko-KR" sz="1300" b="0" dirty="0">
                <a:solidFill>
                  <a:srgbClr val="3D4658"/>
                </a:solidFill>
                <a:latin typeface="Malgun Gothic"/>
                <a:ea typeface="Malgun Gothic"/>
              </a:rPr>
            </a:br>
            <a:r>
              <a:rPr lang="en-US" altLang="ko-KR" sz="1300" b="0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0" dirty="0">
                <a:solidFill>
                  <a:srgbClr val="3D4658"/>
                </a:solidFill>
                <a:latin typeface="Malgun Gothic"/>
                <a:ea typeface="Malgun Gothic"/>
              </a:rPr>
              <a:t>→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전용·혼용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,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책임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소재</a:t>
            </a:r>
            <a:r>
              <a:rPr sz="1300" b="1" dirty="0">
                <a:solidFill>
                  <a:srgbClr val="3D4658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3D4658"/>
                </a:solidFill>
                <a:latin typeface="Malgun Gothic"/>
                <a:ea typeface="Malgun Gothic"/>
              </a:rPr>
              <a:t>불분명</a:t>
            </a:r>
            <a:endParaRPr sz="1300" b="1" dirty="0">
              <a:solidFill>
                <a:srgbClr val="3D4658"/>
              </a:solidFill>
              <a:latin typeface="Malgun Gothic"/>
              <a:ea typeface="Malgun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5833872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5D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925312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관행적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예산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집행과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파편화된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사업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운영으로는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지속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가능성을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담보할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수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없습니다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.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데이터·지표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기반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사업계획과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합목적성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예산관리로의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전환이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7A5200"/>
                </a:solidFill>
                <a:latin typeface="Malgun Gothic"/>
                <a:ea typeface="Malgun Gothic"/>
              </a:rPr>
              <a:t>시급합니다</a:t>
            </a:r>
            <a:r>
              <a:rPr sz="1200" b="0" dirty="0">
                <a:solidFill>
                  <a:srgbClr val="7A5200"/>
                </a:solidFill>
                <a:latin typeface="Malgun Gothic"/>
                <a:ea typeface="Malgun Gothic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B7280"/>
                </a:solidFill>
                <a:latin typeface="Malgun Gothic"/>
                <a:ea typeface="Malgun Gothic"/>
              </a:rPr>
              <a:t>팀장 설명 · 기획처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  <a:ea typeface="Malgun Gothic"/>
              </a:rPr>
              <a:t>2 / 7</a:t>
            </a:r>
          </a:p>
        </p:txBody>
      </p:sp>
      <p:pic>
        <p:nvPicPr>
          <p:cNvPr id="2050" name="Picture 2" descr="로고·UI – 삼육대학교">
            <a:extLst>
              <a:ext uri="{FF2B5EF4-FFF2-40B4-BE49-F238E27FC236}">
                <a16:creationId xmlns:a16="http://schemas.microsoft.com/office/drawing/2014/main" id="{B7A9177A-3216-4316-B22F-08820357A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0" y="139446"/>
            <a:ext cx="449934" cy="45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4FD6"/>
                </a:solidFill>
                <a:latin typeface="Malgun Gothic"/>
                <a:ea typeface="Malgun Gothic"/>
              </a:rPr>
              <a:t>PART 2  · 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201168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AION 통합 성과관리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F2E"/>
                </a:solidFill>
                <a:latin typeface="Malgun Gothic"/>
                <a:ea typeface="Malgun Gothic"/>
              </a:rPr>
              <a:t>이 시스템의 목적 5가지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앞서 본 필요성에 따라, AION 사업관리 체계는 다음 5가지를 실현하도록 설계되었습니다.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21284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30352" y="1600200"/>
            <a:ext cx="329184" cy="329184"/>
          </a:xfrm>
          <a:prstGeom prst="ellipse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103120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사업–지표
인과관계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246120"/>
            <a:ext cx="192024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3D4658"/>
                </a:solidFill>
                <a:latin typeface="Malgun Gothic"/>
                <a:ea typeface="Malgun Gothic"/>
              </a:rPr>
              <a:t>사업계획 작성 시 성과지표와 목표값을 반드시 함께 등록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1417320"/>
            <a:ext cx="221284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71216" y="1600200"/>
            <a:ext cx="329184" cy="32918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103120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대내외 지표
통합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3246120"/>
            <a:ext cx="192024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3D4658"/>
                </a:solidFill>
                <a:latin typeface="Malgun Gothic"/>
                <a:ea typeface="Malgun Gothic"/>
              </a:rPr>
              <a:t>중장기발전계획 12개 지수, 기관평가인증 4개 영역, 국고사업 성과관리지표를 하나로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417320"/>
            <a:ext cx="221284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212080" y="1600200"/>
            <a:ext cx="329184" cy="329184"/>
          </a:xfrm>
          <a:prstGeom prst="ellipse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103120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직접·연계
이원화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246120"/>
            <a:ext cx="192024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3D4658"/>
                </a:solidFill>
                <a:latin typeface="Malgun Gothic"/>
                <a:ea typeface="Malgun Gothic"/>
              </a:rPr>
              <a:t>사업의 목적과 산출물을 사전에 명확히 구분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352" y="1417320"/>
            <a:ext cx="221284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52944" y="1600200"/>
            <a:ext cx="329184" cy="329184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2103120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타당성
자기점검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3246120"/>
            <a:ext cx="192024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3D4658"/>
                </a:solidFill>
                <a:latin typeface="Malgun Gothic"/>
                <a:ea typeface="Malgun Gothic"/>
              </a:rPr>
              <a:t>산출식·기준값·전년 실적과 목표값을 비교하며 스스로 검토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9216" y="1417320"/>
            <a:ext cx="221284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893808" y="1600200"/>
            <a:ext cx="329184" cy="329184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103120"/>
            <a:ext cx="19202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AI 활용
기반 마련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246120"/>
            <a:ext cx="192024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3D4658"/>
                </a:solidFill>
                <a:latin typeface="Malgun Gothic"/>
                <a:ea typeface="Malgun Gothic"/>
              </a:rPr>
              <a:t>축적 데이터로 AI 초안·성과 대시보드·환류 체계 구축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778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E8F7E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687568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관행적인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중층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사업구조를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해체하고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,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데이터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기반의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사업기획과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합목적성에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부합하는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투명한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예산관리로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체질을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개선하는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것이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최종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 </a:t>
            </a:r>
            <a:r>
              <a:rPr sz="1400" b="1" dirty="0" err="1">
                <a:solidFill>
                  <a:srgbClr val="0B5C38"/>
                </a:solidFill>
                <a:latin typeface="Malgun Gothic"/>
                <a:ea typeface="Malgun Gothic"/>
              </a:rPr>
              <a:t>목적입니다</a:t>
            </a:r>
            <a:r>
              <a:rPr sz="1400" b="1" dirty="0">
                <a:solidFill>
                  <a:srgbClr val="0B5C38"/>
                </a:solidFill>
                <a:latin typeface="Malgun Gothic"/>
                <a:ea typeface="Malgun Gothic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B7280"/>
                </a:solidFill>
                <a:latin typeface="Malgun Gothic"/>
                <a:ea typeface="Malgun Gothic"/>
              </a:rPr>
              <a:t>팀장 설명 · 기획처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  <a:ea typeface="Malgun Gothic"/>
              </a:rPr>
              <a:t>4 / 7</a:t>
            </a:r>
          </a:p>
        </p:txBody>
      </p:sp>
      <p:pic>
        <p:nvPicPr>
          <p:cNvPr id="32" name="Picture 2" descr="로고·UI – 삼육대학교">
            <a:extLst>
              <a:ext uri="{FF2B5EF4-FFF2-40B4-BE49-F238E27FC236}">
                <a16:creationId xmlns:a16="http://schemas.microsoft.com/office/drawing/2014/main" id="{31D3A807-333E-4AEB-9B02-7F365CB2E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0" y="139446"/>
            <a:ext cx="449934" cy="45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1E4FD6"/>
                </a:solidFill>
                <a:latin typeface="Malgun Gothic"/>
                <a:ea typeface="Malgun Gothic"/>
              </a:rPr>
              <a:t>PART </a:t>
            </a:r>
            <a:r>
              <a:rPr lang="en-US" altLang="ko-KR" sz="1100" b="1" dirty="0">
                <a:solidFill>
                  <a:srgbClr val="1E4FD6"/>
                </a:solidFill>
                <a:latin typeface="Malgun Gothic"/>
                <a:ea typeface="Malgun Gothic"/>
              </a:rPr>
              <a:t>3</a:t>
            </a:r>
            <a:r>
              <a:rPr sz="1100" b="1" dirty="0">
                <a:solidFill>
                  <a:srgbClr val="1E4FD6"/>
                </a:solidFill>
                <a:latin typeface="Malgun Gothic"/>
                <a:ea typeface="Malgun Gothic"/>
              </a:rPr>
              <a:t>  ·  </a:t>
            </a:r>
            <a:r>
              <a:rPr sz="1100" b="1" dirty="0" err="1">
                <a:solidFill>
                  <a:srgbClr val="1E4FD6"/>
                </a:solidFill>
                <a:latin typeface="Malgun Gothic"/>
                <a:ea typeface="Malgun Gothic"/>
              </a:rPr>
              <a:t>사용방법</a:t>
            </a:r>
            <a:endParaRPr sz="1100" b="1" dirty="0">
              <a:solidFill>
                <a:srgbClr val="1E4FD6"/>
              </a:solidFill>
              <a:latin typeface="Malgun Gothic"/>
              <a:ea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79" y="201168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AION 통합 성과관리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F2E"/>
                </a:solidFill>
                <a:latin typeface="Malgun Gothic"/>
                <a:ea typeface="Malgun Gothic"/>
              </a:rPr>
              <a:t>사업계획서는 이 5단계로 작성합니다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화면 상단 진행바가 항상 표시되므로, 지금 어느 단계인지 확인하며 작성하면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4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48132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E4FD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4708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기본 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12848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분류 · 재원 · 기간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18288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4FD6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2344" y="14173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4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52344" y="148132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E4FD6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184708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상세 계획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2212848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개요 · 목적 · PDC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18288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4FD6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3208" y="14173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4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93208" y="148132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E4FD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184708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성과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212848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직접 · 연계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8288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4FD6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34071" y="14173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4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34071" y="148132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E4FD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184708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예산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1" y="2212848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계정과목별 산정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3" y="18288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4FD6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74936" y="14173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4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74936" y="148132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E4FD6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1847088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A1F2E"/>
                </a:solidFill>
                <a:latin typeface="Malgun Gothic"/>
                <a:ea typeface="Malgun Gothic"/>
              </a:rPr>
              <a:t>검토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4936" y="2212848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제출 → 내부공문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06324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58368" y="3246120"/>
            <a:ext cx="329184" cy="329184"/>
          </a:xfrm>
          <a:prstGeom prst="ellipse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255264"/>
            <a:ext cx="2788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1F2E"/>
                </a:solidFill>
                <a:latin typeface="Malgun Gothic"/>
                <a:ea typeface="Malgun Gothic"/>
              </a:rPr>
              <a:t>시작하기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03320"/>
            <a:ext cx="32461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D4658"/>
                </a:solidFill>
                <a:latin typeface="Malgun Gothic"/>
                <a:ea typeface="Malgun Gothic"/>
              </a:rPr>
              <a:t>로그인 → 대시보드 → 새 사업 → 작성 방식 선택(보통 AI 위자드)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06324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498848" y="3246120"/>
            <a:ext cx="329184" cy="32918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255264"/>
            <a:ext cx="2788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1F2E"/>
                </a:solidFill>
                <a:latin typeface="Malgun Gothic"/>
                <a:ea typeface="Malgun Gothic"/>
              </a:rPr>
              <a:t>위자드 → 5단계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3703320"/>
            <a:ext cx="32461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D4658"/>
                </a:solidFill>
                <a:latin typeface="Malgun Gothic"/>
                <a:ea typeface="Malgun Gothic"/>
              </a:rPr>
              <a:t>부모사업·사업명·조건·예산·목적 → AI초안 → Step1~5 검수·보완 · 임시저장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06324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39328" y="3246120"/>
            <a:ext cx="329184" cy="329184"/>
          </a:xfrm>
          <a:prstGeom prst="ellipse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255264"/>
            <a:ext cx="2788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1F2E"/>
                </a:solidFill>
                <a:latin typeface="Malgun Gothic"/>
                <a:ea typeface="Malgun Gothic"/>
              </a:rPr>
              <a:t>제출과 그 다음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8" y="3703320"/>
            <a:ext cx="32461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D4658"/>
                </a:solidFill>
                <a:latin typeface="Malgun Gothic"/>
                <a:ea typeface="Malgun Gothic"/>
              </a:rPr>
              <a:t>Step5 검토·제출 → 내부공문 작성 → 원인행위(위원회·내부기안) → 사업진행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3949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5D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55321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7A5200"/>
                </a:solidFill>
                <a:latin typeface="Malgun Gothic"/>
                <a:ea typeface="Malgun Gothic"/>
              </a:rPr>
              <a:t>임시저장 ≠ 제출.  임시저장은 중간 저장일 뿐입니다. 제출해야 승인용 내부공문(기획처) 흐름으로 넘어갑니다.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B7280"/>
                </a:solidFill>
                <a:latin typeface="Malgun Gothic"/>
                <a:ea typeface="Malgun Gothic"/>
              </a:rPr>
              <a:t>팀장 설명 · 기획처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51052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  <a:ea typeface="Malgun Gothic"/>
              </a:rPr>
              <a:t>5 / 7</a:t>
            </a:r>
          </a:p>
        </p:txBody>
      </p:sp>
      <p:pic>
        <p:nvPicPr>
          <p:cNvPr id="48" name="Picture 2" descr="로고·UI – 삼육대학교">
            <a:extLst>
              <a:ext uri="{FF2B5EF4-FFF2-40B4-BE49-F238E27FC236}">
                <a16:creationId xmlns:a16="http://schemas.microsoft.com/office/drawing/2014/main" id="{C6E6152D-BDE9-458C-9A15-4C103A90E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0" y="139446"/>
            <a:ext cx="449934" cy="45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1E4FD6"/>
                </a:solidFill>
                <a:latin typeface="Malgun Gothic"/>
                <a:ea typeface="Malgun Gothic"/>
              </a:rPr>
              <a:t>PART </a:t>
            </a:r>
            <a:r>
              <a:rPr lang="en-US" altLang="ko-KR" sz="1100" b="1" dirty="0">
                <a:solidFill>
                  <a:srgbClr val="1E4FD6"/>
                </a:solidFill>
                <a:latin typeface="Malgun Gothic"/>
                <a:ea typeface="Malgun Gothic"/>
              </a:rPr>
              <a:t>3</a:t>
            </a:r>
            <a:r>
              <a:rPr sz="1100" b="1" dirty="0">
                <a:solidFill>
                  <a:srgbClr val="1E4FD6"/>
                </a:solidFill>
                <a:latin typeface="Malgun Gothic"/>
                <a:ea typeface="Malgun Gothic"/>
              </a:rPr>
              <a:t>  ·  </a:t>
            </a:r>
            <a:r>
              <a:rPr sz="1100" b="1" dirty="0" err="1">
                <a:solidFill>
                  <a:srgbClr val="1E4FD6"/>
                </a:solidFill>
                <a:latin typeface="Malgun Gothic"/>
                <a:ea typeface="Malgun Gothic"/>
              </a:rPr>
              <a:t>사용방법</a:t>
            </a:r>
            <a:endParaRPr sz="1100" b="1" dirty="0">
              <a:solidFill>
                <a:srgbClr val="1E4FD6"/>
              </a:solidFill>
              <a:latin typeface="Malgun Gothic"/>
              <a:ea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79" y="201168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AION 통합 성과관리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dirty="0" err="1">
                <a:solidFill>
                  <a:srgbClr val="1A1F2E"/>
                </a:solidFill>
                <a:latin typeface="Malgun Gothic"/>
                <a:ea typeface="Malgun Gothic"/>
              </a:rPr>
              <a:t>로그인</a:t>
            </a:r>
            <a:r>
              <a:rPr sz="2600" b="1" dirty="0">
                <a:solidFill>
                  <a:srgbClr val="1A1F2E"/>
                </a:solidFill>
                <a:latin typeface="Malgun Gothic"/>
                <a:ea typeface="Malgun Gothic"/>
              </a:rPr>
              <a:t> — </a:t>
            </a:r>
            <a:r>
              <a:rPr sz="2600" b="1" dirty="0" err="1">
                <a:solidFill>
                  <a:srgbClr val="1A1F2E"/>
                </a:solidFill>
                <a:latin typeface="Malgun Gothic"/>
                <a:ea typeface="Malgun Gothic"/>
              </a:rPr>
              <a:t>사번</a:t>
            </a:r>
            <a:r>
              <a:rPr lang="en-US" altLang="ko-KR" sz="2600" b="1" dirty="0">
                <a:solidFill>
                  <a:srgbClr val="1A1F2E"/>
                </a:solidFill>
                <a:latin typeface="Malgun Gothic"/>
                <a:ea typeface="Malgun Gothic"/>
              </a:rPr>
              <a:t> </a:t>
            </a:r>
            <a:r>
              <a:rPr lang="ko-KR" altLang="en-US" sz="2600" b="1" dirty="0">
                <a:solidFill>
                  <a:srgbClr val="1A1F2E"/>
                </a:solidFill>
                <a:latin typeface="Malgun Gothic"/>
                <a:ea typeface="Malgun Gothic"/>
              </a:rPr>
              <a:t>및 </a:t>
            </a:r>
            <a:endParaRPr sz="2600" b="1" dirty="0">
              <a:solidFill>
                <a:srgbClr val="1A1F2E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브라우저에서 https://suai.cloud 로 접속하면 로그인 화면이 열립니다.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85216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_ppt_log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554480"/>
            <a:ext cx="4297680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37960" y="1371600"/>
            <a:ext cx="51663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ko-KR" altLang="en-US" sz="1600" b="1" dirty="0">
                <a:solidFill>
                  <a:srgbClr val="1A1F2E"/>
                </a:solidFill>
                <a:latin typeface="Malgun Gothic"/>
                <a:ea typeface="Malgun Gothic"/>
              </a:rPr>
              <a:t>접근방법</a:t>
            </a:r>
            <a:endParaRPr sz="1600" b="1" dirty="0">
              <a:solidFill>
                <a:srgbClr val="1A1F2E"/>
              </a:solidFill>
              <a:latin typeface="Malgun Gothic"/>
              <a:ea typeface="Malgun Gothic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12280" y="2057400"/>
            <a:ext cx="329184" cy="329184"/>
          </a:xfrm>
          <a:prstGeom prst="ellipse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0574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D4658"/>
                </a:solidFill>
                <a:latin typeface="Malgun Gothic"/>
                <a:ea typeface="Malgun Gothic"/>
              </a:rPr>
              <a:t>주소창에 https://suai.cloud 입력</a:t>
            </a:r>
          </a:p>
        </p:txBody>
      </p:sp>
      <p:sp>
        <p:nvSpPr>
          <p:cNvPr id="14" name="Oval 13"/>
          <p:cNvSpPr/>
          <p:nvPr/>
        </p:nvSpPr>
        <p:spPr>
          <a:xfrm>
            <a:off x="6812280" y="2697480"/>
            <a:ext cx="329184" cy="329184"/>
          </a:xfrm>
          <a:prstGeom prst="ellipse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9748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ko-KR" altLang="en-US" sz="1400" b="0" dirty="0">
                <a:solidFill>
                  <a:srgbClr val="3D4658"/>
                </a:solidFill>
                <a:latin typeface="Malgun Gothic"/>
                <a:ea typeface="Malgun Gothic"/>
              </a:rPr>
              <a:t>아이디 </a:t>
            </a:r>
            <a:r>
              <a:rPr lang="en-US" altLang="ko-KR" sz="1400" b="0" dirty="0">
                <a:solidFill>
                  <a:srgbClr val="3D4658"/>
                </a:solidFill>
                <a:latin typeface="Malgun Gothic"/>
                <a:ea typeface="Malgun Gothic"/>
              </a:rPr>
              <a:t>– </a:t>
            </a:r>
            <a:r>
              <a:rPr lang="ko-KR" altLang="en-US" sz="1400" b="0" dirty="0">
                <a:solidFill>
                  <a:srgbClr val="3D4658"/>
                </a:solidFill>
                <a:latin typeface="Malgun Gothic"/>
                <a:ea typeface="Malgun Gothic"/>
              </a:rPr>
              <a:t>사번</a:t>
            </a:r>
            <a:r>
              <a:rPr lang="en-US" altLang="ko-KR" sz="1400" b="0" dirty="0">
                <a:solidFill>
                  <a:srgbClr val="3D4658"/>
                </a:solidFill>
                <a:latin typeface="Malgun Gothic"/>
                <a:ea typeface="Malgun Gothic"/>
              </a:rPr>
              <a:t>, </a:t>
            </a:r>
            <a:r>
              <a:rPr lang="ko-KR" altLang="en-US" sz="1400" b="0" dirty="0">
                <a:solidFill>
                  <a:srgbClr val="3D4658"/>
                </a:solidFill>
                <a:latin typeface="Malgun Gothic"/>
                <a:ea typeface="Malgun Gothic"/>
              </a:rPr>
              <a:t>비밀번호 재설정 필요</a:t>
            </a:r>
            <a:endParaRPr sz="1400" b="0" dirty="0">
              <a:solidFill>
                <a:srgbClr val="3D4658"/>
              </a:solidFill>
              <a:latin typeface="Malgun Gothic"/>
              <a:ea typeface="Malgun Gothic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812280" y="3337560"/>
            <a:ext cx="329184" cy="329184"/>
          </a:xfrm>
          <a:prstGeom prst="ellipse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33756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altLang="ko-KR" sz="1400" dirty="0">
                <a:solidFill>
                  <a:srgbClr val="3D4658"/>
                </a:solidFill>
                <a:latin typeface="Malgun Gothic"/>
                <a:ea typeface="Malgun Gothic"/>
              </a:rPr>
              <a:t>SU-WINGs </a:t>
            </a:r>
            <a:r>
              <a:rPr lang="ko-KR" altLang="en-US" sz="1400" dirty="0">
                <a:solidFill>
                  <a:srgbClr val="3D4658"/>
                </a:solidFill>
                <a:latin typeface="Malgun Gothic"/>
                <a:ea typeface="Malgun Gothic"/>
              </a:rPr>
              <a:t>메일을 통해 비밀번호 재설정</a:t>
            </a:r>
          </a:p>
          <a:p>
            <a:pPr algn="l"/>
            <a:endParaRPr sz="1400" b="0" dirty="0">
              <a:solidFill>
                <a:srgbClr val="3D4658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0" y="3977639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400" b="0" dirty="0">
              <a:solidFill>
                <a:srgbClr val="3D4658"/>
              </a:solidFill>
              <a:latin typeface="Malgun Gothic"/>
              <a:ea typeface="Malgun Gothi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0" y="4137660"/>
            <a:ext cx="47548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로그인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실패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시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사번·비밀번호를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다시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확인하세요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.
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계정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문의는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그룹웨어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계정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담당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부서로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  <a:ea typeface="Malgun Gothic"/>
              </a:rPr>
              <a:t>합니다</a:t>
            </a:r>
            <a:r>
              <a:rPr sz="1200" b="0" dirty="0">
                <a:solidFill>
                  <a:srgbClr val="6B7280"/>
                </a:solidFill>
                <a:latin typeface="Malgun Gothic"/>
                <a:ea typeface="Malgun Gothic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B7280"/>
                </a:solidFill>
                <a:latin typeface="Malgun Gothic"/>
                <a:ea typeface="Malgun Gothic"/>
              </a:rPr>
              <a:t>팀장 설명 · 기획처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  <a:ea typeface="Malgun Gothic"/>
              </a:rPr>
              <a:t>6 / 7</a:t>
            </a:r>
          </a:p>
        </p:txBody>
      </p:sp>
      <p:pic>
        <p:nvPicPr>
          <p:cNvPr id="23" name="Picture 2" descr="로고·UI – 삼육대학교">
            <a:extLst>
              <a:ext uri="{FF2B5EF4-FFF2-40B4-BE49-F238E27FC236}">
                <a16:creationId xmlns:a16="http://schemas.microsoft.com/office/drawing/2014/main" id="{F04068DD-AA10-4A71-8984-591557E7E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0" y="139446"/>
            <a:ext cx="449934" cy="45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4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Malgun Gothic"/>
                <a:ea typeface="Malgun Gothic"/>
              </a:rPr>
              <a:t>AION </a:t>
            </a:r>
            <a:r>
              <a:rPr lang="ko-KR" altLang="en-US" sz="3200" b="1" dirty="0">
                <a:solidFill>
                  <a:srgbClr val="FFFFFF"/>
                </a:solidFill>
                <a:latin typeface="Malgun Gothic"/>
                <a:ea typeface="Malgun Gothic"/>
              </a:rPr>
              <a:t>사업계획서 작성계획</a:t>
            </a:r>
            <a:endParaRPr sz="3200" b="1" dirty="0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600" b="0" dirty="0">
              <a:solidFill>
                <a:srgbClr val="E2E8F0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10871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250000"/>
              </a:lnSpc>
            </a:pPr>
            <a:r>
              <a:rPr lang="en-US" altLang="ko-KR" sz="1600" dirty="0">
                <a:solidFill>
                  <a:srgbClr val="E2E8F0"/>
                </a:solidFill>
                <a:latin typeface="Malgun Gothic"/>
                <a:ea typeface="Malgun Gothic"/>
              </a:rPr>
              <a:t>1. </a:t>
            </a:r>
            <a:r>
              <a:rPr lang="ko-KR" altLang="en-US" sz="1600" dirty="0">
                <a:solidFill>
                  <a:srgbClr val="E2E8F0"/>
                </a:solidFill>
                <a:latin typeface="Malgun Gothic"/>
                <a:ea typeface="Malgun Gothic"/>
              </a:rPr>
              <a:t>사업계획서 입력</a:t>
            </a:r>
            <a:r>
              <a:rPr lang="en-US" altLang="ko-KR" sz="1600" dirty="0">
                <a:solidFill>
                  <a:srgbClr val="E2E8F0"/>
                </a:solidFill>
                <a:latin typeface="Malgun Gothic"/>
                <a:ea typeface="Malgun Gothic"/>
              </a:rPr>
              <a:t>: 10.16(</a:t>
            </a:r>
            <a:r>
              <a:rPr lang="ko-KR" altLang="en-US" sz="1600" dirty="0">
                <a:solidFill>
                  <a:srgbClr val="E2E8F0"/>
                </a:solidFill>
                <a:latin typeface="Malgun Gothic"/>
                <a:ea typeface="Malgun Gothic"/>
              </a:rPr>
              <a:t>금</a:t>
            </a:r>
            <a:r>
              <a:rPr lang="en-US" altLang="ko-KR" sz="1600" dirty="0">
                <a:solidFill>
                  <a:srgbClr val="E2E8F0"/>
                </a:solidFill>
                <a:latin typeface="Malgun Gothic"/>
                <a:ea typeface="Malgun Gothic"/>
              </a:rPr>
              <a:t>)</a:t>
            </a:r>
            <a:r>
              <a:rPr lang="ko-KR" altLang="en-US" sz="1600" dirty="0">
                <a:solidFill>
                  <a:srgbClr val="E2E8F0"/>
                </a:solidFill>
                <a:latin typeface="Malgun Gothic"/>
                <a:ea typeface="Malgun Gothic"/>
              </a:rPr>
              <a:t>까지</a:t>
            </a:r>
          </a:p>
          <a:p>
            <a:pPr>
              <a:lnSpc>
                <a:spcPct val="250000"/>
              </a:lnSpc>
            </a:pPr>
            <a:r>
              <a:rPr lang="en-US" altLang="ko-KR" sz="1600" dirty="0">
                <a:solidFill>
                  <a:srgbClr val="E2E8F0"/>
                </a:solidFill>
                <a:latin typeface="Malgun Gothic"/>
                <a:ea typeface="Malgun Gothic"/>
              </a:rPr>
              <a:t>2. </a:t>
            </a:r>
            <a:r>
              <a:rPr lang="ko-KR" altLang="en-US" sz="1600" dirty="0">
                <a:solidFill>
                  <a:srgbClr val="E2E8F0"/>
                </a:solidFill>
                <a:latin typeface="Malgun Gothic"/>
                <a:ea typeface="Malgun Gothic"/>
              </a:rPr>
              <a:t>공문 제출</a:t>
            </a:r>
            <a:r>
              <a:rPr lang="en-US" altLang="ko-KR" sz="1600" dirty="0">
                <a:solidFill>
                  <a:srgbClr val="E2E8F0"/>
                </a:solidFill>
                <a:latin typeface="Malgun Gothic"/>
                <a:ea typeface="Malgun Gothic"/>
              </a:rPr>
              <a:t>: </a:t>
            </a:r>
            <a:r>
              <a:rPr lang="ko-KR" altLang="en-US" sz="1600" dirty="0">
                <a:solidFill>
                  <a:srgbClr val="E2E8F0"/>
                </a:solidFill>
                <a:latin typeface="Malgun Gothic"/>
                <a:ea typeface="Malgun Gothic"/>
              </a:rPr>
              <a:t>일정과 방법은 추후 공문과 공지로 다시 </a:t>
            </a:r>
            <a:r>
              <a:rPr lang="ko-KR" altLang="en-US" sz="1600" dirty="0" err="1">
                <a:solidFill>
                  <a:srgbClr val="E2E8F0"/>
                </a:solidFill>
                <a:latin typeface="Malgun Gothic"/>
                <a:ea typeface="Malgun Gothic"/>
              </a:rPr>
              <a:t>안내드리겠습니다</a:t>
            </a:r>
            <a:r>
              <a:rPr lang="en-US" altLang="ko-KR" sz="1600" dirty="0">
                <a:solidFill>
                  <a:srgbClr val="E2E8F0"/>
                </a:solidFill>
                <a:latin typeface="Malgun Gothic"/>
                <a:ea typeface="Malgun Gothic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en-US" altLang="ko-KR" sz="1600" dirty="0">
                <a:solidFill>
                  <a:srgbClr val="E2E8F0"/>
                </a:solidFill>
                <a:latin typeface="Malgun Gothic"/>
                <a:ea typeface="Malgun Gothic"/>
              </a:rPr>
              <a:t>3. </a:t>
            </a:r>
            <a:r>
              <a:rPr lang="ko-KR" altLang="en-US" sz="1600" dirty="0">
                <a:solidFill>
                  <a:srgbClr val="E2E8F0"/>
                </a:solidFill>
                <a:latin typeface="Malgun Gothic"/>
                <a:ea typeface="Malgun Gothic"/>
              </a:rPr>
              <a:t>시스템 사용 문의와 오류 신고는 </a:t>
            </a:r>
            <a:r>
              <a:rPr lang="en-US" altLang="ko-KR" sz="1600" dirty="0">
                <a:solidFill>
                  <a:srgbClr val="E2E8F0"/>
                </a:solidFill>
                <a:latin typeface="Malgun Gothic"/>
                <a:ea typeface="Malgun Gothic"/>
              </a:rPr>
              <a:t>3395, 3396</a:t>
            </a:r>
            <a:r>
              <a:rPr lang="ko-KR" altLang="en-US" sz="1600" dirty="0">
                <a:solidFill>
                  <a:srgbClr val="E2E8F0"/>
                </a:solidFill>
                <a:latin typeface="Malgun Gothic"/>
                <a:ea typeface="Malgun Gothic"/>
              </a:rPr>
              <a:t>으로 연락 주시기 바랍니다</a:t>
            </a:r>
            <a:r>
              <a:rPr lang="en-US" altLang="ko-KR" sz="1600" dirty="0">
                <a:solidFill>
                  <a:srgbClr val="E2E8F0"/>
                </a:solidFill>
                <a:latin typeface="Malgun Gothic"/>
                <a:ea typeface="Malgun Gothic"/>
              </a:rPr>
              <a:t>.</a:t>
            </a:r>
            <a:endParaRPr sz="1600" b="0" dirty="0">
              <a:solidFill>
                <a:srgbClr val="E2E8F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3C5FD"/>
                </a:solidFill>
                <a:latin typeface="Malgun Gothic"/>
                <a:ea typeface="Malgun Gothic"/>
              </a:rPr>
              <a:t>기획처  ·  AION 통합 성과관리 체계</a:t>
            </a:r>
          </a:p>
        </p:txBody>
      </p:sp>
      <p:pic>
        <p:nvPicPr>
          <p:cNvPr id="10" name="Picture 4" descr="preparing_logo-1 – 삼육대학교">
            <a:extLst>
              <a:ext uri="{FF2B5EF4-FFF2-40B4-BE49-F238E27FC236}">
                <a16:creationId xmlns:a16="http://schemas.microsoft.com/office/drawing/2014/main" id="{DE686EF8-E34F-442E-9900-A58725441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55" y="142758"/>
            <a:ext cx="643936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605</Words>
  <Application>Microsoft Office PowerPoint</Application>
  <PresentationFormat>와이드스크린</PresentationFormat>
  <Paragraphs>100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조재림</cp:lastModifiedBy>
  <cp:revision>5</cp:revision>
  <dcterms:created xsi:type="dcterms:W3CDTF">2013-01-27T09:14:16Z</dcterms:created>
  <dcterms:modified xsi:type="dcterms:W3CDTF">2026-10-13T05:46:17Z</dcterms:modified>
  <cp:category/>
</cp:coreProperties>
</file>